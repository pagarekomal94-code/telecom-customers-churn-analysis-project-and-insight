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044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0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0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2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87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7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8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5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5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DBD4C-B523-47A3-8062-7E807C58782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F3EC2-2D8E-4B77-8C93-4CB0E08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5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29320" y="-27114"/>
            <a:ext cx="8562680" cy="4835951"/>
          </a:xfrm>
          <a:prstGeom prst="rect">
            <a:avLst/>
          </a:prstGeom>
          <a:solidFill>
            <a:srgbClr val="31044C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3959258"/>
            <a:ext cx="2648932" cy="28987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67639" y="925922"/>
            <a:ext cx="3676244" cy="535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78279" y="783682"/>
            <a:ext cx="39234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0" i="0" dirty="0" smtClean="0">
                <a:solidFill>
                  <a:srgbClr val="FFFFFF"/>
                </a:solidFill>
                <a:effectLst/>
                <a:latin typeface="Inter"/>
              </a:rPr>
              <a:t>Reducing </a:t>
            </a:r>
            <a:r>
              <a:rPr lang="en-US" sz="3600" b="1" i="0" dirty="0" smtClean="0">
                <a:solidFill>
                  <a:srgbClr val="FFFFFF"/>
                </a:solidFill>
                <a:effectLst/>
                <a:latin typeface="Inter"/>
              </a:rPr>
              <a:t>Customer Churn</a:t>
            </a:r>
            <a:r>
              <a:rPr lang="en-US" sz="3600" b="0" i="0" dirty="0" smtClean="0">
                <a:solidFill>
                  <a:srgbClr val="FFFFFF"/>
                </a:solidFill>
                <a:effectLst/>
                <a:latin typeface="Inter"/>
              </a:rPr>
              <a:t> to Protect Revenue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5078279" y="3092006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FFFFFF"/>
                </a:solidFill>
                <a:effectLst/>
                <a:latin typeface="Inter"/>
              </a:rPr>
              <a:t>Executive dashboard for retention insights</a:t>
            </a:r>
          </a:p>
          <a:p>
            <a:r>
              <a:rPr lang="en-US" sz="1400" b="0" i="0" dirty="0" smtClean="0">
                <a:solidFill>
                  <a:srgbClr val="FFFFFF"/>
                </a:solidFill>
                <a:effectLst/>
                <a:latin typeface="Inter"/>
              </a:rPr>
              <a:t> Analysis period</a:t>
            </a:r>
            <a:r>
              <a:rPr lang="en-US" sz="1400" dirty="0" smtClean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1400" b="0" i="0" dirty="0" smtClean="0">
                <a:solidFill>
                  <a:srgbClr val="FFFFFF"/>
                </a:solidFill>
                <a:effectLst/>
                <a:latin typeface="Inter"/>
              </a:rPr>
              <a:t>: Full Customer Lifecycle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FFFFFF"/>
                </a:solidFill>
                <a:effectLst/>
                <a:latin typeface="Inter"/>
              </a:rPr>
              <a:t> Report generated: January 2026.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FFFFFF"/>
                </a:solidFill>
                <a:effectLst/>
                <a:latin typeface="Inter"/>
              </a:rPr>
              <a:t> Audience: Executive Leadership, Revenue and Retention, Product Strategy.</a:t>
            </a:r>
            <a:endParaRPr lang="en-US" sz="1400" b="0" i="0" dirty="0">
              <a:solidFill>
                <a:srgbClr val="FFFFFF"/>
              </a:solidFill>
              <a:effectLst/>
              <a:latin typeface="Inte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39" y="925922"/>
            <a:ext cx="3676244" cy="535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3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9356" y="424071"/>
            <a:ext cx="70843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dirty="0" smtClean="0">
                <a:solidFill>
                  <a:srgbClr val="452E5A"/>
                </a:solidFill>
                <a:effectLst/>
                <a:latin typeface="Inter"/>
              </a:rPr>
              <a:t>Measurement Framework: </a:t>
            </a:r>
            <a:r>
              <a:rPr lang="en-US" sz="2400" b="1" i="0" dirty="0" smtClean="0">
                <a:solidFill>
                  <a:srgbClr val="452E5A"/>
                </a:solidFill>
                <a:effectLst/>
                <a:latin typeface="Inter"/>
              </a:rPr>
              <a:t>Churn Analytics</a:t>
            </a:r>
            <a:r>
              <a:rPr lang="en-US" sz="2400" b="0" i="0" dirty="0" smtClean="0">
                <a:solidFill>
                  <a:srgbClr val="452E5A"/>
                </a:solidFill>
                <a:effectLst/>
                <a:latin typeface="Inter"/>
              </a:rPr>
              <a:t> and Retention Health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769357" y="1257249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0" i="0" dirty="0" smtClean="0">
                <a:solidFill>
                  <a:srgbClr val="6E6E74"/>
                </a:solidFill>
                <a:effectLst/>
                <a:latin typeface="Inter"/>
              </a:rPr>
              <a:t>Integrated dashboard tracking lifecycle risk signals and retention effectiveness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9347200" y="0"/>
            <a:ext cx="2844800" cy="799515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0" y="2149844"/>
            <a:ext cx="3774546" cy="3554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3760" y="2493282"/>
            <a:ext cx="23150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i="0" dirty="0" smtClean="0">
                <a:solidFill>
                  <a:srgbClr val="161723"/>
                </a:solidFill>
                <a:effectLst/>
                <a:latin typeface="Inter"/>
              </a:rPr>
              <a:t>Customer Demographics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533400" y="2758960"/>
            <a:ext cx="38404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Age, gender, and lifecycle stage      </a:t>
            </a:r>
          </a:p>
          <a:p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segmentation to identify vulnerable profiles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3760" y="3577036"/>
            <a:ext cx="26113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i="0" dirty="0" smtClean="0">
                <a:solidFill>
                  <a:srgbClr val="161723"/>
                </a:solidFill>
                <a:effectLst/>
                <a:latin typeface="Inter"/>
              </a:rPr>
              <a:t>Service Utilization and Value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518160" y="3839544"/>
            <a:ext cx="38201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Adoption rates, bundle penetration and add-on engagement measuring perceived value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7204" y="4917758"/>
            <a:ext cx="29001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i="0" dirty="0" smtClean="0">
                <a:solidFill>
                  <a:srgbClr val="161723"/>
                </a:solidFill>
                <a:effectLst/>
                <a:latin typeface="Inter"/>
              </a:rPr>
              <a:t>Payment and Billing Experience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670560" y="5225535"/>
            <a:ext cx="4155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Payment method adoption and billing friction indicators exposing retention barriers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00734" y="2480617"/>
            <a:ext cx="2324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i="0" dirty="0" smtClean="0">
                <a:solidFill>
                  <a:srgbClr val="161723"/>
                </a:solidFill>
                <a:effectLst/>
                <a:latin typeface="Inter"/>
              </a:rPr>
              <a:t>Geographic Performance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8130302" y="2788394"/>
            <a:ext cx="3505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Regional churn rates and state concentration to guide localized action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89989" y="4101154"/>
            <a:ext cx="28162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i="0" dirty="0" smtClean="0">
                <a:solidFill>
                  <a:srgbClr val="161723"/>
                </a:solidFill>
                <a:effectLst/>
                <a:latin typeface="Inter"/>
              </a:rPr>
              <a:t>Contract and Tenure Dynamics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8140268" y="4425765"/>
            <a:ext cx="34856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Contract types and tenure cohorts to flag high-risk segments for intervention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98322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96640"/>
            <a:ext cx="2611120" cy="32613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11200" y="142240"/>
            <a:ext cx="3220720" cy="671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11200" y="0"/>
            <a:ext cx="332232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003" y="1879599"/>
            <a:ext cx="6309360" cy="36779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90720" y="38295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0" i="0" dirty="0" smtClean="0">
                <a:solidFill>
                  <a:srgbClr val="452E5A"/>
                </a:solidFill>
                <a:effectLst/>
                <a:latin typeface="Inter"/>
              </a:rPr>
              <a:t>Dashboard Insights: Current Performance vs </a:t>
            </a:r>
            <a:r>
              <a:rPr lang="en-US" sz="2000" b="1" i="0" dirty="0" smtClean="0">
                <a:solidFill>
                  <a:srgbClr val="452E5A"/>
                </a:solidFill>
                <a:effectLst/>
                <a:latin typeface="Inter"/>
              </a:rPr>
              <a:t>Churn</a:t>
            </a:r>
            <a:r>
              <a:rPr lang="en-US" sz="2000" b="0" i="0" dirty="0" smtClean="0">
                <a:solidFill>
                  <a:srgbClr val="452E5A"/>
                </a:solidFill>
                <a:effectLst/>
                <a:latin typeface="Inter"/>
              </a:rPr>
              <a:t> and Retention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503003" y="1110510"/>
            <a:ext cx="54328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0" i="0" dirty="0" smtClean="0">
                <a:solidFill>
                  <a:srgbClr val="6E6E74"/>
                </a:solidFill>
                <a:effectLst/>
                <a:latin typeface="Inter"/>
              </a:rPr>
              <a:t>Snapshot of customer health and immediate retention risk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0"/>
            <a:ext cx="3322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849527"/>
            <a:ext cx="10210800" cy="4399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760" y="29151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0" i="0" dirty="0" smtClean="0">
                <a:solidFill>
                  <a:srgbClr val="452E5A"/>
                </a:solidFill>
                <a:effectLst/>
                <a:latin typeface="Inter"/>
              </a:rPr>
              <a:t>Operational Excellence: Churn Drivers and Segment Performance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19760" y="1122512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0" i="0" dirty="0" smtClean="0">
                <a:solidFill>
                  <a:srgbClr val="6E6E74"/>
                </a:solidFill>
                <a:effectLst/>
                <a:latin typeface="Inter"/>
              </a:rPr>
              <a:t>Data-driven risks and retention levers across contracts, services, and demographics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9347200" y="0"/>
            <a:ext cx="2844800" cy="799515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8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1840" y="39975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0" i="0" dirty="0" smtClean="0">
                <a:solidFill>
                  <a:srgbClr val="452E5A"/>
                </a:solidFill>
                <a:effectLst/>
                <a:latin typeface="Inter"/>
              </a:rPr>
              <a:t>Financial Impact: </a:t>
            </a:r>
            <a:r>
              <a:rPr lang="en-US" sz="2800" b="1" i="0" dirty="0" smtClean="0">
                <a:solidFill>
                  <a:srgbClr val="452E5A"/>
                </a:solidFill>
                <a:effectLst/>
                <a:latin typeface="Inter"/>
              </a:rPr>
              <a:t>27% Churn</a:t>
            </a:r>
            <a:r>
              <a:rPr lang="en-US" sz="2800" b="0" i="0" dirty="0" smtClean="0">
                <a:solidFill>
                  <a:srgbClr val="452E5A"/>
                </a:solidFill>
                <a:effectLst/>
                <a:latin typeface="Inter"/>
              </a:rPr>
              <a:t> Revenue Risk and Retention ROI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9347200" y="0"/>
            <a:ext cx="2844800" cy="799515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40142" y="1761024"/>
            <a:ext cx="49744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0" i="0" dirty="0" smtClean="0">
                <a:solidFill>
                  <a:srgbClr val="6E6E74"/>
                </a:solidFill>
                <a:effectLst/>
                <a:latin typeface="Inter"/>
              </a:rPr>
              <a:t>Revenue preservation levers and near-term priorities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833120" y="2357120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27% churn equals 1,732 lost 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2625" y="3491623"/>
            <a:ext cx="126443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Direct recurring revenue loss from attrition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122647" y="2353372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High CAC recovery risk from continuous acquisition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77879" y="4643120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Increase value-added service adoption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10844" y="2357117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smtClean="0">
                <a:solidFill>
                  <a:schemeClr val="tx1"/>
                </a:solidFill>
              </a:rPr>
              <a:t>Lifetime value compressed by churn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522889" y="2357117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Month-to-month upgrade opportunity (46% segment)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767878" y="2357117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Fiber quality improvement: reduce churn from 41% toward 20-25%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098800" y="4667598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Targeted geographic campaigns for 57% high-risk state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319721" y="4643115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Drive digital payment adoption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22889" y="4643115"/>
            <a:ext cx="2003443" cy="192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Business case: improving churn 27% to 20%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372205" y="3491623"/>
            <a:ext cx="156913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27% churn forces ongoing spend, reducing margins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74902" y="3534372"/>
            <a:ext cx="198393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Shorter tenure limits cross-sell and upsell upside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64650" y="3534372"/>
            <a:ext cx="158255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Convert to longer commitments to improve CAC payback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075476" y="3534372"/>
            <a:ext cx="180760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Retain ~300 customers annually; preserve premium revenue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348623" y="5835830"/>
            <a:ext cx="1332569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Higher ARPU, stronger retention through bundles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372205" y="5835830"/>
            <a:ext cx="156913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Local interventions to stop concentrated revenue leakage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703435" y="5674247"/>
            <a:ext cx="13679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Reduce operational costs and involuntary churn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64650" y="5755038"/>
            <a:ext cx="15692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smtClean="0">
                <a:solidFill>
                  <a:srgbClr val="161723"/>
                </a:solidFill>
                <a:effectLst/>
                <a:latin typeface="Inter"/>
              </a:rPr>
              <a:t>Retain ~476 customers annually; preserve recurring revenue</a:t>
            </a:r>
            <a:endParaRPr lang="en-US" sz="105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07" y="2491955"/>
            <a:ext cx="559465" cy="54980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2525212"/>
            <a:ext cx="589280" cy="57658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232" y="2525212"/>
            <a:ext cx="588568" cy="55587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756" y="2562179"/>
            <a:ext cx="481707" cy="50265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107" y="4781338"/>
            <a:ext cx="559465" cy="56282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8754" y="2543695"/>
            <a:ext cx="477527" cy="518908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0800" y="4781338"/>
            <a:ext cx="494046" cy="49404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6232" y="4847514"/>
            <a:ext cx="519714" cy="530541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3756" y="4866917"/>
            <a:ext cx="477803" cy="51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68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76244" cy="6858000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364084" y="2963595"/>
            <a:ext cx="3312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 smtClean="0">
                <a:solidFill>
                  <a:srgbClr val="FFFFFF"/>
                </a:solidFill>
                <a:effectLst/>
                <a:latin typeface="Inter"/>
              </a:rPr>
              <a:t>Clear targets, regional focus, and service-led differentiation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364084" y="728395"/>
            <a:ext cx="28972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dirty="0" smtClean="0">
                <a:solidFill>
                  <a:srgbClr val="FFFFFF"/>
                </a:solidFill>
                <a:effectLst/>
                <a:latin typeface="Inter"/>
              </a:rPr>
              <a:t>Strategic Alignment: Churn Reduction Goals and Competitive Positioning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5791200" y="16978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i="0" dirty="0" smtClean="0">
                <a:solidFill>
                  <a:srgbClr val="161723"/>
                </a:solidFill>
                <a:effectLst/>
                <a:latin typeface="Inter"/>
              </a:rPr>
              <a:t>Maximize Customer Lifetime Value: reduce churn from 27% to 20%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5791200" y="228266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Extend tenure by 40%; increase tenure by 8+ months; improve LTV:CAC payback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91200" y="2963595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i="0" dirty="0" smtClean="0">
                <a:solidFill>
                  <a:srgbClr val="161723"/>
                </a:solidFill>
                <a:effectLst/>
                <a:latin typeface="Inter"/>
              </a:rPr>
              <a:t>Strengthen competitive moat through service excellence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720080" y="330544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Cut fiber churn from 41% to 25%; raise bundle adoption by 30%; lower competition-driven churn by 40%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91200" y="3980696"/>
            <a:ext cx="42466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0" dirty="0" smtClean="0">
                <a:solidFill>
                  <a:srgbClr val="161723"/>
                </a:solidFill>
                <a:effectLst/>
                <a:latin typeface="Inter"/>
              </a:rPr>
              <a:t>Optimize geographic market performance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5791200" y="431668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Reduce highest-state churn from 57% to 30%; cut geographic variance spread by 50%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37686" y="4993185"/>
            <a:ext cx="41537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0" dirty="0" smtClean="0">
                <a:solidFill>
                  <a:srgbClr val="161723"/>
                </a:solidFill>
                <a:effectLst/>
                <a:latin typeface="Inter"/>
              </a:rPr>
              <a:t>Performance tracking and accountability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5791200" y="533122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smtClean="0">
                <a:solidFill>
                  <a:srgbClr val="161723"/>
                </a:solidFill>
                <a:effectLst/>
                <a:latin typeface="Inter"/>
              </a:rPr>
              <a:t>Monthly dashboard: churn, segment performance, geographic variance for course correction</a:t>
            </a:r>
            <a:endParaRPr lang="en-US" sz="1400" b="0" i="0" dirty="0">
              <a:solidFill>
                <a:srgbClr val="161723"/>
              </a:solidFill>
              <a:effectLst/>
              <a:latin typeface="Inter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895" y="1841120"/>
            <a:ext cx="690570" cy="6379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894" y="2978286"/>
            <a:ext cx="678465" cy="6477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894" y="4001726"/>
            <a:ext cx="671451" cy="6299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893" y="5116422"/>
            <a:ext cx="671451" cy="58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474395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0" i="0" dirty="0" smtClean="0">
                <a:solidFill>
                  <a:srgbClr val="452E5A"/>
                </a:solidFill>
                <a:effectLst/>
                <a:latin typeface="Inter"/>
              </a:rPr>
              <a:t>Critical Insights: Root Causes and Strategic Opportunities in Churn Data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9347200" y="0"/>
            <a:ext cx="2844800" cy="799515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14400" y="1984494"/>
            <a:ext cx="57505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 smtClean="0">
                <a:solidFill>
                  <a:srgbClr val="6E6E74"/>
                </a:solidFill>
                <a:effectLst/>
                <a:latin typeface="Inter"/>
              </a:rPr>
              <a:t>Data-driven levers to reduce churn and protect revenue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17375"/>
            <a:ext cx="10383520" cy="395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5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0" y="399757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0" i="0" dirty="0" smtClean="0">
                <a:solidFill>
                  <a:srgbClr val="452E5A"/>
                </a:solidFill>
                <a:effectLst/>
                <a:latin typeface="Inter"/>
              </a:rPr>
              <a:t>Execution Roadmap: Prioritized Retention Initiatives and Timeline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9347200" y="0"/>
            <a:ext cx="2844800" cy="799515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53440" y="142943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0" i="0" dirty="0" smtClean="0">
                <a:solidFill>
                  <a:srgbClr val="6E6E74"/>
                </a:solidFill>
                <a:effectLst/>
                <a:latin typeface="Inter"/>
              </a:rPr>
              <a:t>Six initiatives sequenced for rapid wins and sustained churn reduction by Q4 2026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2089781"/>
            <a:ext cx="7719182" cy="439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9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487680"/>
            <a:ext cx="5628640" cy="5648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73440" y="0"/>
            <a:ext cx="3718560" cy="6858000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747760" y="677595"/>
            <a:ext cx="2997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b="0" i="0" dirty="0" smtClean="0">
                <a:solidFill>
                  <a:srgbClr val="FFFFFF"/>
                </a:solidFill>
                <a:effectLst/>
                <a:latin typeface="Inter"/>
              </a:rPr>
              <a:t>Dashboard Evolution: Enhanced Analytics for Proactive Decision-Making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8961120" y="3552875"/>
            <a:ext cx="2783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0" i="0" dirty="0" smtClean="0">
                <a:solidFill>
                  <a:srgbClr val="FFFFFF"/>
                </a:solidFill>
                <a:effectLst/>
                <a:latin typeface="Inter"/>
              </a:rPr>
              <a:t>Roadmap of analytics milestones and business impact, Q1 2026 to Q4 2026+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8122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5835"/>
            <a:ext cx="7396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dirty="0" smtClean="0">
                <a:solidFill>
                  <a:srgbClr val="452E5A"/>
                </a:solidFill>
                <a:effectLst/>
                <a:latin typeface="Inter"/>
              </a:rPr>
              <a:t>Moving Forward: Data-Driven </a:t>
            </a:r>
            <a:r>
              <a:rPr lang="en-US" sz="2400" b="1" i="0" dirty="0" smtClean="0">
                <a:solidFill>
                  <a:srgbClr val="452E5A"/>
                </a:solidFill>
                <a:effectLst/>
                <a:latin typeface="Inter"/>
              </a:rPr>
              <a:t>Retention</a:t>
            </a:r>
            <a:r>
              <a:rPr lang="en-US" sz="2400" b="0" i="0" dirty="0" smtClean="0">
                <a:solidFill>
                  <a:srgbClr val="452E5A"/>
                </a:solidFill>
                <a:effectLst/>
                <a:latin typeface="Inter"/>
              </a:rPr>
              <a:t> Strategy &amp; Organizational Commitment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658548"/>
            <a:ext cx="9489440" cy="46711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47200" y="0"/>
            <a:ext cx="2844800" cy="799515"/>
          </a:xfrm>
          <a:prstGeom prst="rect">
            <a:avLst/>
          </a:prstGeom>
          <a:solidFill>
            <a:srgbClr val="31044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460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Prme</dc:creator>
  <cp:lastModifiedBy>Prme</cp:lastModifiedBy>
  <cp:revision>12</cp:revision>
  <dcterms:created xsi:type="dcterms:W3CDTF">2026-01-09T08:21:25Z</dcterms:created>
  <dcterms:modified xsi:type="dcterms:W3CDTF">2026-01-09T10:51:31Z</dcterms:modified>
</cp:coreProperties>
</file>